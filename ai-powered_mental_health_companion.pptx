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6"/>
  </p:notesMasterIdLst>
  <p:sldIdLst>
    <p:sldId id="256" r:id="rId5"/>
    <p:sldId id="2146847054" r:id="rId6"/>
    <p:sldId id="262" r:id="rId7"/>
    <p:sldId id="265" r:id="rId8"/>
    <p:sldId id="266" r:id="rId9"/>
    <p:sldId id="2146847056" r:id="rId10"/>
    <p:sldId id="267" r:id="rId11"/>
    <p:sldId id="268" r:id="rId12"/>
    <p:sldId id="2146847055" r:id="rId13"/>
    <p:sldId id="269" r:id="rId14"/>
    <p:sldId id="25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snapToGrid="0">
      <p:cViewPr>
        <p:scale>
          <a:sx n="66" d="100"/>
          <a:sy n="66" d="100"/>
        </p:scale>
        <p:origin x="894" y="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13-10-2025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E254F1-4415-47BF-9E91-C5D4B9A33350}" type="slidenum">
              <a:rPr lang="en-IN" smtClean="0"/>
              <a:t>5</a:t>
            </a:fld>
            <a:endParaRPr lang="en-IN"/>
          </a:p>
        </p:txBody>
      </p:sp>
    </p:spTree>
    <p:extLst>
      <p:ext uri="{BB962C8B-B14F-4D97-AF65-F5344CB8AC3E}">
        <p14:creationId xmlns:p14="http://schemas.microsoft.com/office/powerpoint/2010/main" val="16961133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E254F1-4415-47BF-9E91-C5D4B9A33350}" type="slidenum">
              <a:rPr lang="en-IN" smtClean="0"/>
              <a:t>8</a:t>
            </a:fld>
            <a:endParaRPr lang="en-IN"/>
          </a:p>
        </p:txBody>
      </p:sp>
    </p:spTree>
    <p:extLst>
      <p:ext uri="{BB962C8B-B14F-4D97-AF65-F5344CB8AC3E}">
        <p14:creationId xmlns:p14="http://schemas.microsoft.com/office/powerpoint/2010/main" val="10096399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10/13/2025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10/13/2025</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10/13/2025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10/13/2025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10/13/2025</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10/13/2025</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10/13/2025</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10/13/2025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10/13/2025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10/13/2025</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10/13/2025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10/13/2025</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hyperlink" Target="https://mybuddyai.streamlit.app/#welcome-to-my-buddy" TargetMode="External"/><Relationship Id="rId2" Type="http://schemas.openxmlformats.org/officeDocument/2006/relationships/hyperlink" Target="https://github.com/Arya068/mybuddy"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etbootstrap.com/docs/5.3/getting-started/introduction/" TargetMode="External"/><Relationship Id="rId2" Type="http://schemas.openxmlformats.org/officeDocument/2006/relationships/hyperlink" Target="https://github.com/NanthiniMoha/TNSDC-FWD-DIGITAL_PORTFOLIO" TargetMode="External"/><Relationship Id="rId1" Type="http://schemas.openxmlformats.org/officeDocument/2006/relationships/slideLayout" Target="../slideLayouts/slideLayout2.xml"/><Relationship Id="rId5" Type="http://schemas.openxmlformats.org/officeDocument/2006/relationships/hyperlink" Target="https://mybuddyai.streamlit.app/#welcome-to-my-buddy" TargetMode="External"/><Relationship Id="rId4" Type="http://schemas.openxmlformats.org/officeDocument/2006/relationships/hyperlink" Target="https://docs.streamlit.io/"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418820" cy="977778"/>
          </a:xfrm>
        </p:spPr>
        <p:txBody>
          <a:bodyPr>
            <a:normAutofit/>
          </a:bodyPr>
          <a:lstStyle/>
          <a:p>
            <a:pPr algn="ctr"/>
            <a:r>
              <a:rPr lang="en-US" b="1" dirty="0">
                <a:solidFill>
                  <a:schemeClr val="accent1"/>
                </a:solidFill>
                <a:latin typeface="Arial" panose="020B0604020202020204" pitchFamily="34" charset="0"/>
                <a:cs typeface="Arial" panose="020B0604020202020204" pitchFamily="34" charset="0"/>
              </a:rPr>
              <a:t>Mental health companion </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3597640" y="4316542"/>
            <a:ext cx="5486399" cy="830997"/>
          </a:xfrm>
          <a:prstGeom prst="rect">
            <a:avLst/>
          </a:prstGeom>
          <a:noFill/>
        </p:spPr>
        <p:txBody>
          <a:bodyPr wrap="square" lIns="91440" tIns="45720" rIns="91440" bIns="45720" rtlCol="0" anchor="t">
            <a:spAutoFit/>
          </a:bodyPr>
          <a:lstStyle/>
          <a:p>
            <a:r>
              <a:rPr lang="en-US" sz="2400" b="1" dirty="0">
                <a:solidFill>
                  <a:schemeClr val="accent1">
                    <a:lumMod val="75000"/>
                  </a:schemeClr>
                </a:solidFill>
                <a:latin typeface="Arial" pitchFamily="34" charset="0"/>
                <a:cs typeface="Arial" pitchFamily="34" charset="0"/>
              </a:rPr>
              <a:t>             Presented By:</a:t>
            </a:r>
          </a:p>
          <a:p>
            <a:r>
              <a:rPr lang="en-US" sz="2400" b="1">
                <a:solidFill>
                  <a:schemeClr val="accent1">
                    <a:lumMod val="75000"/>
                  </a:schemeClr>
                </a:solidFill>
                <a:latin typeface="Arial"/>
                <a:cs typeface="Arial"/>
              </a:rPr>
              <a:t> </a:t>
            </a:r>
            <a:r>
              <a:rPr lang="en-US" sz="2400" b="1" dirty="0">
                <a:solidFill>
                  <a:schemeClr val="accent1">
                    <a:lumMod val="75000"/>
                  </a:schemeClr>
                </a:solidFill>
                <a:latin typeface="Arial"/>
                <a:cs typeface="Arial"/>
              </a:rPr>
              <a:t>ARYA SHUKLA, AKTU, AI &amp; ML</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sz="3200" b="1" dirty="0">
                <a:solidFill>
                  <a:srgbClr val="002060"/>
                </a:solidFill>
                <a:latin typeface="Arial" panose="020B0604020202020204" pitchFamily="34" charset="0"/>
                <a:cs typeface="Arial" panose="020B0604020202020204" pitchFamily="34" charset="0"/>
              </a:rPr>
              <a:t>OUTLINE</a:t>
            </a:r>
            <a:endParaRPr lang="en-US" b="1" dirty="0">
              <a:solidFill>
                <a:srgbClr val="00206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400" b="1" dirty="0">
                <a:latin typeface="Arial"/>
                <a:ea typeface="+mn-lt"/>
                <a:cs typeface="Arial"/>
              </a:rPr>
              <a:t>Problem Statement </a:t>
            </a:r>
            <a:endParaRPr lang="en-US" sz="1800" dirty="0">
              <a:latin typeface="Arial"/>
              <a:cs typeface="Arial"/>
            </a:endParaRPr>
          </a:p>
          <a:p>
            <a:pPr marL="305435" indent="-305435"/>
            <a:r>
              <a:rPr lang="en-US" sz="2400" b="1" dirty="0">
                <a:latin typeface="Arial"/>
                <a:ea typeface="+mn-lt"/>
                <a:cs typeface="Calibri"/>
              </a:rPr>
              <a:t>System </a:t>
            </a:r>
            <a:r>
              <a:rPr lang="en-US" sz="2400" b="1" dirty="0">
                <a:latin typeface="Arial"/>
                <a:ea typeface="+mn-lt"/>
                <a:cs typeface="+mn-lt"/>
              </a:rPr>
              <a:t>Development Approach</a:t>
            </a:r>
            <a:r>
              <a:rPr lang="en-US" sz="2400" dirty="0">
                <a:latin typeface="Arial"/>
                <a:ea typeface="+mn-lt"/>
                <a:cs typeface="+mn-lt"/>
              </a:rPr>
              <a:t> </a:t>
            </a:r>
            <a:endParaRPr lang="en-US" sz="1800" dirty="0">
              <a:latin typeface="Arial"/>
              <a:ea typeface="+mn-lt"/>
              <a:cs typeface="+mn-lt"/>
            </a:endParaRPr>
          </a:p>
          <a:p>
            <a:pPr marL="305435" indent="-305435"/>
            <a:r>
              <a:rPr lang="en-US" sz="2400" b="1" dirty="0">
                <a:latin typeface="Arial"/>
                <a:ea typeface="+mn-lt"/>
                <a:cs typeface="+mn-lt"/>
              </a:rPr>
              <a:t>Algorithm &amp; Deployment </a:t>
            </a:r>
            <a:endParaRPr lang="en-US" sz="1800" dirty="0">
              <a:latin typeface="Arial"/>
              <a:cs typeface="Calibri"/>
            </a:endParaRPr>
          </a:p>
          <a:p>
            <a:pPr marL="305435" indent="-305435"/>
            <a:r>
              <a:rPr lang="en-US" sz="2400" b="1" dirty="0">
                <a:latin typeface="Arial"/>
                <a:ea typeface="+mn-lt"/>
                <a:cs typeface="Arial"/>
              </a:rPr>
              <a:t>Result</a:t>
            </a:r>
          </a:p>
          <a:p>
            <a:pPr marL="305435" indent="-305435"/>
            <a:r>
              <a:rPr lang="en-US" sz="2400" b="1" dirty="0">
                <a:latin typeface="Arial"/>
                <a:ea typeface="+mn-lt"/>
                <a:cs typeface="Arial"/>
              </a:rPr>
              <a:t>Conclusion</a:t>
            </a:r>
            <a:endParaRPr lang="en-US" sz="1800" dirty="0">
              <a:latin typeface="Arial"/>
              <a:cs typeface="Arial"/>
            </a:endParaRPr>
          </a:p>
          <a:p>
            <a:pPr marL="305435" indent="-305435"/>
            <a:r>
              <a:rPr lang="en-US" sz="2400" b="1" dirty="0">
                <a:latin typeface="Arial"/>
                <a:ea typeface="+mn-lt"/>
                <a:cs typeface="Arial"/>
              </a:rPr>
              <a:t>Future Scope</a:t>
            </a:r>
          </a:p>
          <a:p>
            <a:pPr marL="305435" indent="-305435"/>
            <a:r>
              <a:rPr lang="en-US" sz="2400" b="1" dirty="0">
                <a:latin typeface="Arial"/>
                <a:ea typeface="+mn-lt"/>
                <a:cs typeface="Arial"/>
              </a:rPr>
              <a:t>References</a:t>
            </a:r>
            <a:endParaRPr lang="en-US" sz="1800"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id="{A7D5EFD5-67FD-0471-2D5B-DB48161ADE03}"/>
              </a:ext>
            </a:extLst>
          </p:cNvPr>
          <p:cNvSpPr>
            <a:spLocks noGrp="1"/>
          </p:cNvSpPr>
          <p:nvPr>
            <p:ph idx="1"/>
          </p:nvPr>
        </p:nvSpPr>
        <p:spPr/>
        <p:txBody>
          <a:bodyPr/>
          <a:lstStyle/>
          <a:p>
            <a:pPr algn="just"/>
            <a:r>
              <a:rPr lang="en-US" sz="1800" dirty="0"/>
              <a:t>Many students today struggle with </a:t>
            </a:r>
            <a:r>
              <a:rPr lang="en-US" sz="1800" b="1" dirty="0"/>
              <a:t>stress, anxiety, and feelings of loneliness</a:t>
            </a:r>
            <a:r>
              <a:rPr lang="en-US" sz="1800" dirty="0"/>
              <a:t>, often due to academic pressure and personal challenges. However, most students </a:t>
            </a:r>
            <a:r>
              <a:rPr lang="en-US" sz="1800" b="1" dirty="0"/>
              <a:t>hesitate to open up</a:t>
            </a:r>
            <a:r>
              <a:rPr lang="en-US" sz="1800" dirty="0"/>
              <a:t> or seek help from professional counselors because of fear, stigma, or lack of accessibility. </a:t>
            </a:r>
          </a:p>
          <a:p>
            <a:pPr algn="just"/>
            <a:r>
              <a:rPr lang="en-US" sz="1800" b="1" dirty="0">
                <a:latin typeface="Arial" panose="020B0604020202020204" pitchFamily="34" charset="0"/>
                <a:cs typeface="Arial" panose="020B0604020202020204" pitchFamily="34" charset="0"/>
              </a:rPr>
              <a:t>Problem:</a:t>
            </a:r>
            <a:r>
              <a:rPr lang="en-US" sz="1800" dirty="0"/>
              <a:t> There is a growing need for an </a:t>
            </a:r>
            <a:r>
              <a:rPr lang="en-US" sz="1800" b="1" dirty="0"/>
              <a:t>empathetic and secure AI-powered chatbot</a:t>
            </a:r>
            <a:r>
              <a:rPr lang="en-US" sz="1800" dirty="0"/>
              <a:t> that can analyze Students emotion </a:t>
            </a:r>
            <a:r>
              <a:rPr lang="en-US" sz="1800" b="1" dirty="0"/>
              <a:t>using sentiment analysis</a:t>
            </a:r>
            <a:r>
              <a:rPr lang="en-US" sz="1800" dirty="0"/>
              <a:t>, offer motivational and supportive responses, and suggest relaxation or self-care techniques to promote mental well-being in a private and comfortable environment.</a:t>
            </a:r>
          </a:p>
          <a:p>
            <a:pPr algn="just"/>
            <a:endParaRPr lang="en-IN"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graphicFrame>
        <p:nvGraphicFramePr>
          <p:cNvPr id="7" name="Content Placeholder 6">
            <a:extLst>
              <a:ext uri="{FF2B5EF4-FFF2-40B4-BE49-F238E27FC236}">
                <a16:creationId xmlns:a16="http://schemas.microsoft.com/office/drawing/2014/main" id="{E926667E-1934-225A-D838-F85DD7A53C90}"/>
              </a:ext>
            </a:extLst>
          </p:cNvPr>
          <p:cNvGraphicFramePr>
            <a:graphicFrameLocks noGrp="1"/>
          </p:cNvGraphicFramePr>
          <p:nvPr>
            <p:ph idx="1"/>
            <p:extLst>
              <p:ext uri="{D42A27DB-BD31-4B8C-83A1-F6EECF244321}">
                <p14:modId xmlns:p14="http://schemas.microsoft.com/office/powerpoint/2010/main" val="32895859"/>
              </p:ext>
            </p:extLst>
          </p:nvPr>
        </p:nvGraphicFramePr>
        <p:xfrm>
          <a:off x="581025" y="2358390"/>
          <a:ext cx="11029616" cy="3083040"/>
        </p:xfrm>
        <a:graphic>
          <a:graphicData uri="http://schemas.openxmlformats.org/drawingml/2006/table">
            <a:tbl>
              <a:tblPr/>
              <a:tblGrid>
                <a:gridCol w="5514808">
                  <a:extLst>
                    <a:ext uri="{9D8B030D-6E8A-4147-A177-3AD203B41FA5}">
                      <a16:colId xmlns:a16="http://schemas.microsoft.com/office/drawing/2014/main" val="3651885456"/>
                    </a:ext>
                  </a:extLst>
                </a:gridCol>
                <a:gridCol w="5514808">
                  <a:extLst>
                    <a:ext uri="{9D8B030D-6E8A-4147-A177-3AD203B41FA5}">
                      <a16:colId xmlns:a16="http://schemas.microsoft.com/office/drawing/2014/main" val="3162863862"/>
                    </a:ext>
                  </a:extLst>
                </a:gridCol>
              </a:tblGrid>
              <a:tr h="770760">
                <a:tc>
                  <a:txBody>
                    <a:bodyPr/>
                    <a:lstStyle/>
                    <a:p>
                      <a:pPr algn="just">
                        <a:buNone/>
                      </a:pPr>
                      <a:r>
                        <a:rPr lang="en-IN" b="1" dirty="0">
                          <a:latin typeface="Arial" panose="020B0604020202020204" pitchFamily="34" charset="0"/>
                          <a:cs typeface="Arial" panose="020B0604020202020204" pitchFamily="34" charset="0"/>
                        </a:rPr>
                        <a:t>Frontend</a:t>
                      </a:r>
                      <a:endParaRPr lang="en-IN" dirty="0">
                        <a:latin typeface="Arial" panose="020B0604020202020204" pitchFamily="34" charset="0"/>
                        <a:cs typeface="Arial" panose="020B0604020202020204" pitchFamily="34" charset="0"/>
                      </a:endParaRPr>
                    </a:p>
                  </a:txBody>
                  <a:tcPr anchor="ctr">
                    <a:lnL>
                      <a:noFill/>
                    </a:lnL>
                    <a:lnR>
                      <a:noFill/>
                    </a:lnR>
                    <a:lnT>
                      <a:noFill/>
                    </a:lnT>
                    <a:lnB>
                      <a:noFill/>
                    </a:lnB>
                    <a:noFill/>
                  </a:tcPr>
                </a:tc>
                <a:tc>
                  <a:txBody>
                    <a:bodyPr/>
                    <a:lstStyle/>
                    <a:p>
                      <a:pPr algn="just">
                        <a:buNone/>
                      </a:pPr>
                      <a:r>
                        <a:rPr lang="en-US" dirty="0" err="1">
                          <a:latin typeface="Arial" panose="020B0604020202020204" pitchFamily="34" charset="0"/>
                          <a:cs typeface="Arial" panose="020B0604020202020204" pitchFamily="34" charset="0"/>
                        </a:rPr>
                        <a:t>Streamlit</a:t>
                      </a:r>
                      <a:r>
                        <a:rPr lang="en-US" dirty="0">
                          <a:latin typeface="Arial" panose="020B0604020202020204" pitchFamily="34" charset="0"/>
                          <a:cs typeface="Arial" panose="020B0604020202020204" pitchFamily="34" charset="0"/>
                        </a:rPr>
                        <a:t> app for user interaction (chat UI, input/output display)</a:t>
                      </a:r>
                    </a:p>
                  </a:txBody>
                  <a:tcPr anchor="ctr">
                    <a:lnL>
                      <a:noFill/>
                    </a:lnL>
                    <a:lnR>
                      <a:noFill/>
                    </a:lnR>
                    <a:lnT>
                      <a:noFill/>
                    </a:lnT>
                    <a:lnB>
                      <a:noFill/>
                    </a:lnB>
                    <a:noFill/>
                  </a:tcPr>
                </a:tc>
                <a:extLst>
                  <a:ext uri="{0D108BD9-81ED-4DB2-BD59-A6C34878D82A}">
                    <a16:rowId xmlns:a16="http://schemas.microsoft.com/office/drawing/2014/main" val="3789503578"/>
                  </a:ext>
                </a:extLst>
              </a:tr>
              <a:tr h="770760">
                <a:tc>
                  <a:txBody>
                    <a:bodyPr/>
                    <a:lstStyle/>
                    <a:p>
                      <a:pPr algn="just">
                        <a:buNone/>
                      </a:pPr>
                      <a:r>
                        <a:rPr lang="en-IN" b="1">
                          <a:latin typeface="Arial" panose="020B0604020202020204" pitchFamily="34" charset="0"/>
                          <a:cs typeface="Arial" panose="020B0604020202020204" pitchFamily="34" charset="0"/>
                        </a:rPr>
                        <a:t>Backend</a:t>
                      </a:r>
                      <a:endParaRPr lang="en-IN">
                        <a:latin typeface="Arial" panose="020B0604020202020204" pitchFamily="34" charset="0"/>
                        <a:cs typeface="Arial" panose="020B0604020202020204" pitchFamily="34" charset="0"/>
                      </a:endParaRPr>
                    </a:p>
                  </a:txBody>
                  <a:tcPr anchor="ctr">
                    <a:lnL>
                      <a:noFill/>
                    </a:lnL>
                    <a:lnR>
                      <a:noFill/>
                    </a:lnR>
                    <a:lnT>
                      <a:noFill/>
                    </a:lnT>
                    <a:lnB>
                      <a:noFill/>
                    </a:lnB>
                    <a:noFill/>
                  </a:tcPr>
                </a:tc>
                <a:tc>
                  <a:txBody>
                    <a:bodyPr/>
                    <a:lstStyle/>
                    <a:p>
                      <a:pPr algn="just">
                        <a:buNone/>
                      </a:pPr>
                      <a:r>
                        <a:rPr lang="en-US" dirty="0">
                          <a:latin typeface="Arial" panose="020B0604020202020204" pitchFamily="34" charset="0"/>
                          <a:cs typeface="Arial" panose="020B0604020202020204" pitchFamily="34" charset="0"/>
                        </a:rPr>
                        <a:t>Python logic to handle chat flow, model inference, and session state</a:t>
                      </a:r>
                    </a:p>
                  </a:txBody>
                  <a:tcPr anchor="ctr">
                    <a:lnL>
                      <a:noFill/>
                    </a:lnL>
                    <a:lnR>
                      <a:noFill/>
                    </a:lnR>
                    <a:lnT>
                      <a:noFill/>
                    </a:lnT>
                    <a:lnB>
                      <a:noFill/>
                    </a:lnB>
                    <a:noFill/>
                  </a:tcPr>
                </a:tc>
                <a:extLst>
                  <a:ext uri="{0D108BD9-81ED-4DB2-BD59-A6C34878D82A}">
                    <a16:rowId xmlns:a16="http://schemas.microsoft.com/office/drawing/2014/main" val="3835916795"/>
                  </a:ext>
                </a:extLst>
              </a:tr>
              <a:tr h="770760">
                <a:tc>
                  <a:txBody>
                    <a:bodyPr/>
                    <a:lstStyle/>
                    <a:p>
                      <a:pPr algn="just">
                        <a:buNone/>
                      </a:pPr>
                      <a:r>
                        <a:rPr lang="en-IN" b="1">
                          <a:latin typeface="Arial" panose="020B0604020202020204" pitchFamily="34" charset="0"/>
                          <a:cs typeface="Arial" panose="020B0604020202020204" pitchFamily="34" charset="0"/>
                        </a:rPr>
                        <a:t>Model Engine</a:t>
                      </a:r>
                      <a:endParaRPr lang="en-IN">
                        <a:latin typeface="Arial" panose="020B0604020202020204" pitchFamily="34" charset="0"/>
                        <a:cs typeface="Arial" panose="020B0604020202020204" pitchFamily="34" charset="0"/>
                      </a:endParaRPr>
                    </a:p>
                  </a:txBody>
                  <a:tcPr anchor="ctr">
                    <a:lnL>
                      <a:noFill/>
                    </a:lnL>
                    <a:lnR>
                      <a:noFill/>
                    </a:lnR>
                    <a:lnT>
                      <a:noFill/>
                    </a:lnT>
                    <a:lnB>
                      <a:noFill/>
                    </a:lnB>
                    <a:noFill/>
                  </a:tcPr>
                </a:tc>
                <a:tc>
                  <a:txBody>
                    <a:bodyPr/>
                    <a:lstStyle/>
                    <a:p>
                      <a:pPr algn="just">
                        <a:buNone/>
                      </a:pPr>
                      <a:r>
                        <a:rPr lang="en-IN" dirty="0" err="1">
                          <a:latin typeface="Arial" panose="020B0604020202020204" pitchFamily="34" charset="0"/>
                          <a:cs typeface="Arial" panose="020B0604020202020204" pitchFamily="34" charset="0"/>
                        </a:rPr>
                        <a:t>LLaMA</a:t>
                      </a:r>
                      <a:r>
                        <a:rPr lang="en-IN" dirty="0">
                          <a:latin typeface="Arial" panose="020B0604020202020204" pitchFamily="34" charset="0"/>
                          <a:cs typeface="Arial" panose="020B0604020202020204" pitchFamily="34" charset="0"/>
                        </a:rPr>
                        <a:t>-based model (e.g. via </a:t>
                      </a:r>
                      <a:r>
                        <a:rPr lang="en-IN" dirty="0" err="1">
                          <a:latin typeface="Arial" panose="020B0604020202020204" pitchFamily="34" charset="0"/>
                          <a:cs typeface="Arial" panose="020B0604020202020204" pitchFamily="34" charset="0"/>
                        </a:rPr>
                        <a:t>HuggingFace</a:t>
                      </a:r>
                      <a:r>
                        <a:rPr lang="en-IN" dirty="0">
                          <a:latin typeface="Arial" panose="020B0604020202020204" pitchFamily="34" charset="0"/>
                          <a:cs typeface="Arial" panose="020B0604020202020204" pitchFamily="34" charset="0"/>
                        </a:rPr>
                        <a:t> Transformers or llama.cpp)</a:t>
                      </a:r>
                    </a:p>
                  </a:txBody>
                  <a:tcPr anchor="ctr">
                    <a:lnL>
                      <a:noFill/>
                    </a:lnL>
                    <a:lnR>
                      <a:noFill/>
                    </a:lnR>
                    <a:lnT>
                      <a:noFill/>
                    </a:lnT>
                    <a:lnB>
                      <a:noFill/>
                    </a:lnB>
                    <a:noFill/>
                  </a:tcPr>
                </a:tc>
                <a:extLst>
                  <a:ext uri="{0D108BD9-81ED-4DB2-BD59-A6C34878D82A}">
                    <a16:rowId xmlns:a16="http://schemas.microsoft.com/office/drawing/2014/main" val="223182781"/>
                  </a:ext>
                </a:extLst>
              </a:tr>
              <a:tr h="770760">
                <a:tc>
                  <a:txBody>
                    <a:bodyPr/>
                    <a:lstStyle/>
                    <a:p>
                      <a:pPr algn="just">
                        <a:buNone/>
                      </a:pPr>
                      <a:r>
                        <a:rPr lang="en-IN" b="1">
                          <a:latin typeface="Arial" panose="020B0604020202020204" pitchFamily="34" charset="0"/>
                          <a:cs typeface="Arial" panose="020B0604020202020204" pitchFamily="34" charset="0"/>
                        </a:rPr>
                        <a:t>Data Handling</a:t>
                      </a:r>
                      <a:endParaRPr lang="en-IN">
                        <a:latin typeface="Arial" panose="020B0604020202020204" pitchFamily="34" charset="0"/>
                        <a:cs typeface="Arial" panose="020B0604020202020204" pitchFamily="34" charset="0"/>
                      </a:endParaRPr>
                    </a:p>
                  </a:txBody>
                  <a:tcPr anchor="ctr">
                    <a:lnL>
                      <a:noFill/>
                    </a:lnL>
                    <a:lnR>
                      <a:noFill/>
                    </a:lnR>
                    <a:lnT>
                      <a:noFill/>
                    </a:lnT>
                    <a:lnB>
                      <a:noFill/>
                    </a:lnB>
                    <a:noFill/>
                  </a:tcPr>
                </a:tc>
                <a:tc>
                  <a:txBody>
                    <a:bodyPr/>
                    <a:lstStyle/>
                    <a:p>
                      <a:pPr algn="just">
                        <a:buNone/>
                      </a:pPr>
                      <a:r>
                        <a:rPr lang="en-US" dirty="0">
                          <a:latin typeface="Arial" panose="020B0604020202020204" pitchFamily="34" charset="0"/>
                          <a:cs typeface="Arial" panose="020B0604020202020204" pitchFamily="34" charset="0"/>
                        </a:rPr>
                        <a:t>Optional logging, feedback collection, or prompt templates</a:t>
                      </a:r>
                    </a:p>
                  </a:txBody>
                  <a:tcPr anchor="ctr">
                    <a:lnL>
                      <a:noFill/>
                    </a:lnL>
                    <a:lnR>
                      <a:noFill/>
                    </a:lnR>
                    <a:lnT>
                      <a:noFill/>
                    </a:lnT>
                    <a:lnB>
                      <a:noFill/>
                    </a:lnB>
                    <a:noFill/>
                  </a:tcPr>
                </a:tc>
                <a:extLst>
                  <a:ext uri="{0D108BD9-81ED-4DB2-BD59-A6C34878D82A}">
                    <a16:rowId xmlns:a16="http://schemas.microsoft.com/office/drawing/2014/main" val="4257733088"/>
                  </a:ext>
                </a:extLst>
              </a:tr>
            </a:tbl>
          </a:graphicData>
        </a:graphic>
      </p:graphicFrame>
    </p:spTree>
    <p:extLst>
      <p:ext uri="{BB962C8B-B14F-4D97-AF65-F5344CB8AC3E}">
        <p14:creationId xmlns:p14="http://schemas.microsoft.com/office/powerpoint/2010/main" val="3202024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3" name="Rectangle 1">
            <a:extLst>
              <a:ext uri="{FF2B5EF4-FFF2-40B4-BE49-F238E27FC236}">
                <a16:creationId xmlns:a16="http://schemas.microsoft.com/office/drawing/2014/main" id="{2A13D4AF-BC64-937B-E983-E2F50E4F343E}"/>
              </a:ext>
            </a:extLst>
          </p:cNvPr>
          <p:cNvSpPr>
            <a:spLocks noGrp="1" noChangeArrowheads="1"/>
          </p:cNvSpPr>
          <p:nvPr>
            <p:ph idx="1"/>
          </p:nvPr>
        </p:nvSpPr>
        <p:spPr bwMode="auto">
          <a:xfrm>
            <a:off x="445725" y="1182600"/>
            <a:ext cx="10831875" cy="567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nSpc>
                <a:spcPct val="100000"/>
              </a:lnSpc>
              <a:buNone/>
            </a:pPr>
            <a:r>
              <a:rPr lang="en-US" sz="1400" b="1" dirty="0">
                <a:latin typeface="Arial" panose="020B0604020202020204" pitchFamily="34" charset="0"/>
                <a:cs typeface="Arial" panose="020B0604020202020204" pitchFamily="34" charset="0"/>
              </a:rPr>
              <a:t>1. Privacy &amp; Security</a:t>
            </a:r>
          </a:p>
          <a:p>
            <a:pPr marL="0" indent="0">
              <a:lnSpc>
                <a:spcPct val="100000"/>
              </a:lnSpc>
              <a:buNone/>
            </a:pPr>
            <a:r>
              <a:rPr lang="en-US" sz="1400" dirty="0">
                <a:latin typeface="Arial" panose="020B0604020202020204" pitchFamily="34" charset="0"/>
                <a:cs typeface="Arial" panose="020B0604020202020204" pitchFamily="34" charset="0"/>
              </a:rPr>
              <a:t>User conversations must be confidential and not stored without consent.</a:t>
            </a:r>
          </a:p>
          <a:p>
            <a:pPr marL="0" indent="0">
              <a:lnSpc>
                <a:spcPct val="100000"/>
              </a:lnSpc>
              <a:buNone/>
            </a:pPr>
            <a:r>
              <a:rPr lang="en-US" sz="1400" dirty="0">
                <a:latin typeface="Arial" panose="020B0604020202020204" pitchFamily="34" charset="0"/>
                <a:cs typeface="Arial" panose="020B0604020202020204" pitchFamily="34" charset="0"/>
              </a:rPr>
              <a:t>No personally identifiable information (PII) should be collected or exposed.</a:t>
            </a:r>
          </a:p>
          <a:p>
            <a:pPr marL="0" indent="0">
              <a:lnSpc>
                <a:spcPct val="100000"/>
              </a:lnSpc>
              <a:buNone/>
            </a:pPr>
            <a:r>
              <a:rPr lang="en-US" sz="1400" dirty="0">
                <a:latin typeface="Arial" panose="020B0604020202020204" pitchFamily="34" charset="0"/>
                <a:cs typeface="Arial" panose="020B0604020202020204" pitchFamily="34" charset="0"/>
              </a:rPr>
              <a:t>Secure communication using HTTPS.</a:t>
            </a:r>
          </a:p>
          <a:p>
            <a:pPr marL="0" indent="0">
              <a:lnSpc>
                <a:spcPct val="100000"/>
              </a:lnSpc>
              <a:buNone/>
            </a:pPr>
            <a:r>
              <a:rPr lang="en-US" sz="1400" b="1" dirty="0">
                <a:latin typeface="Arial" panose="020B0604020202020204" pitchFamily="34" charset="0"/>
                <a:cs typeface="Arial" panose="020B0604020202020204" pitchFamily="34" charset="0"/>
              </a:rPr>
              <a:t>2. Availability</a:t>
            </a:r>
          </a:p>
          <a:p>
            <a:pPr marL="0" indent="0">
              <a:lnSpc>
                <a:spcPct val="100000"/>
              </a:lnSpc>
              <a:buNone/>
            </a:pPr>
            <a:r>
              <a:rPr lang="en-US" sz="1400" dirty="0">
                <a:latin typeface="Arial" panose="020B0604020202020204" pitchFamily="34" charset="0"/>
                <a:cs typeface="Arial" panose="020B0604020202020204" pitchFamily="34" charset="0"/>
              </a:rPr>
              <a:t>The chatbot should be accessible 24/7 to support users during emotional distress.</a:t>
            </a:r>
          </a:p>
          <a:p>
            <a:pPr marL="0" indent="0">
              <a:lnSpc>
                <a:spcPct val="100000"/>
              </a:lnSpc>
              <a:buNone/>
            </a:pPr>
            <a:r>
              <a:rPr lang="en-US" sz="1400" dirty="0">
                <a:latin typeface="Arial" panose="020B0604020202020204" pitchFamily="34" charset="0"/>
                <a:cs typeface="Arial" panose="020B0604020202020204" pitchFamily="34" charset="0"/>
              </a:rPr>
              <a:t>Minimal downtime during updates or maintenance.</a:t>
            </a:r>
          </a:p>
          <a:p>
            <a:pPr marL="0" indent="0">
              <a:lnSpc>
                <a:spcPct val="100000"/>
              </a:lnSpc>
              <a:buNone/>
            </a:pPr>
            <a:r>
              <a:rPr lang="en-US" sz="1400" b="1" dirty="0">
                <a:latin typeface="Arial" panose="020B0604020202020204" pitchFamily="34" charset="0"/>
                <a:cs typeface="Arial" panose="020B0604020202020204" pitchFamily="34" charset="0"/>
              </a:rPr>
              <a:t>3. Performance</a:t>
            </a:r>
          </a:p>
          <a:p>
            <a:pPr marL="0" indent="0">
              <a:lnSpc>
                <a:spcPct val="100000"/>
              </a:lnSpc>
              <a:buNone/>
            </a:pPr>
            <a:r>
              <a:rPr lang="en-US" sz="1400" dirty="0">
                <a:latin typeface="Arial" panose="020B0604020202020204" pitchFamily="34" charset="0"/>
                <a:cs typeface="Arial" panose="020B0604020202020204" pitchFamily="34" charset="0"/>
              </a:rPr>
              <a:t>Response time should be under 2 seconds for typical queries.</a:t>
            </a:r>
          </a:p>
          <a:p>
            <a:pPr marL="0" indent="0">
              <a:lnSpc>
                <a:spcPct val="100000"/>
              </a:lnSpc>
              <a:buNone/>
            </a:pPr>
            <a:r>
              <a:rPr lang="en-US" sz="1400" dirty="0">
                <a:latin typeface="Arial" panose="020B0604020202020204" pitchFamily="34" charset="0"/>
                <a:cs typeface="Arial" panose="020B0604020202020204" pitchFamily="34" charset="0"/>
              </a:rPr>
              <a:t>Efficient memory usage to support low-resource devices (especially if using </a:t>
            </a:r>
            <a:r>
              <a:rPr lang="en-US" sz="1400" dirty="0" err="1">
                <a:latin typeface="Arial" panose="020B0604020202020204" pitchFamily="34" charset="0"/>
                <a:cs typeface="Arial" panose="020B0604020202020204" pitchFamily="34" charset="0"/>
              </a:rPr>
              <a:t>LLaMA</a:t>
            </a:r>
            <a:r>
              <a:rPr lang="en-US" sz="1400" dirty="0">
                <a:latin typeface="Arial" panose="020B0604020202020204" pitchFamily="34" charset="0"/>
                <a:cs typeface="Arial" panose="020B0604020202020204" pitchFamily="34" charset="0"/>
              </a:rPr>
              <a:t> locally).</a:t>
            </a:r>
          </a:p>
          <a:p>
            <a:pPr marL="0" indent="0">
              <a:lnSpc>
                <a:spcPct val="100000"/>
              </a:lnSpc>
              <a:buNone/>
            </a:pPr>
            <a:r>
              <a:rPr lang="en-US" sz="1400" b="1" dirty="0">
                <a:latin typeface="Arial" panose="020B0604020202020204" pitchFamily="34" charset="0"/>
                <a:cs typeface="Arial" panose="020B0604020202020204" pitchFamily="34" charset="0"/>
              </a:rPr>
              <a:t>4. Usability</a:t>
            </a:r>
          </a:p>
          <a:p>
            <a:pPr marL="0" indent="0">
              <a:lnSpc>
                <a:spcPct val="100000"/>
              </a:lnSpc>
              <a:buNone/>
            </a:pPr>
            <a:r>
              <a:rPr lang="en-US" sz="1400" dirty="0">
                <a:latin typeface="Arial" panose="020B0604020202020204" pitchFamily="34" charset="0"/>
                <a:cs typeface="Arial" panose="020B0604020202020204" pitchFamily="34" charset="0"/>
              </a:rPr>
              <a:t>Clean, intuitive interface with empathetic tone and easy navigation.</a:t>
            </a:r>
          </a:p>
          <a:p>
            <a:pPr marL="0" indent="0">
              <a:lnSpc>
                <a:spcPct val="100000"/>
              </a:lnSpc>
              <a:buNone/>
            </a:pPr>
            <a:r>
              <a:rPr lang="en-US" sz="1400" dirty="0">
                <a:latin typeface="Arial" panose="020B0604020202020204" pitchFamily="34" charset="0"/>
                <a:cs typeface="Arial" panose="020B0604020202020204" pitchFamily="34" charset="0"/>
              </a:rPr>
              <a:t>Mobile-responsive design for accessibility on phones and tablets.</a:t>
            </a:r>
          </a:p>
          <a:p>
            <a:pPr marL="0" indent="0">
              <a:lnSpc>
                <a:spcPct val="100000"/>
              </a:lnSpc>
              <a:buNone/>
            </a:pPr>
            <a:r>
              <a:rPr lang="en-US" sz="1400" dirty="0">
                <a:latin typeface="Arial" panose="020B0604020202020204" pitchFamily="34" charset="0"/>
                <a:cs typeface="Arial" panose="020B0604020202020204" pitchFamily="34" charset="0"/>
              </a:rPr>
              <a:t>Use of icons and emotional cues to guide user interaction.</a:t>
            </a:r>
          </a:p>
          <a:p>
            <a:pPr marL="0" indent="0">
              <a:lnSpc>
                <a:spcPct val="100000"/>
              </a:lnSpc>
              <a:buNone/>
            </a:pPr>
            <a:r>
              <a:rPr lang="en-US" sz="1400" b="1" dirty="0">
                <a:latin typeface="Arial" panose="020B0604020202020204" pitchFamily="34" charset="0"/>
                <a:cs typeface="Arial" panose="020B0604020202020204" pitchFamily="34" charset="0"/>
              </a:rPr>
              <a:t> 5. Scalability</a:t>
            </a:r>
          </a:p>
          <a:p>
            <a:pPr marL="0" indent="0">
              <a:lnSpc>
                <a:spcPct val="100000"/>
              </a:lnSpc>
              <a:buNone/>
            </a:pPr>
            <a:r>
              <a:rPr lang="en-US" sz="1400" dirty="0">
                <a:latin typeface="Arial" panose="020B0604020202020204" pitchFamily="34" charset="0"/>
                <a:cs typeface="Arial" panose="020B0604020202020204" pitchFamily="34" charset="0"/>
              </a:rPr>
              <a:t>Should support increasing user load without degradation in performance.</a:t>
            </a:r>
          </a:p>
          <a:p>
            <a:pPr marL="0" indent="0">
              <a:lnSpc>
                <a:spcPct val="100000"/>
              </a:lnSpc>
              <a:buNone/>
            </a:pPr>
            <a:r>
              <a:rPr lang="en-US" sz="1400" dirty="0">
                <a:latin typeface="Arial" panose="020B0604020202020204" pitchFamily="34" charset="0"/>
                <a:cs typeface="Arial" panose="020B0604020202020204" pitchFamily="34" charset="0"/>
              </a:rPr>
              <a:t>Modular architecture to allow future integration (e.g., journaling, voice input, multilingual support).</a:t>
            </a:r>
          </a:p>
        </p:txBody>
      </p:sp>
    </p:spTree>
    <p:extLst>
      <p:ext uri="{BB962C8B-B14F-4D97-AF65-F5344CB8AC3E}">
        <p14:creationId xmlns:p14="http://schemas.microsoft.com/office/powerpoint/2010/main" val="4154508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20F19-3232-FCD0-E48F-6210A7E8170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C230409-939A-60F3-342F-342F13F94BBC}"/>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2" name="Content Placeholder 1">
            <a:extLst>
              <a:ext uri="{FF2B5EF4-FFF2-40B4-BE49-F238E27FC236}">
                <a16:creationId xmlns:a16="http://schemas.microsoft.com/office/drawing/2014/main" id="{68BE642F-C3D0-4B7A-8D8A-3804B8286D52}"/>
              </a:ext>
            </a:extLst>
          </p:cNvPr>
          <p:cNvSpPr>
            <a:spLocks noGrp="1"/>
          </p:cNvSpPr>
          <p:nvPr>
            <p:ph idx="1"/>
          </p:nvPr>
        </p:nvSpPr>
        <p:spPr/>
        <p:txBody>
          <a:bodyPr>
            <a:normAutofit/>
          </a:bodyPr>
          <a:lstStyle/>
          <a:p>
            <a:pPr marL="305435" indent="-305435"/>
            <a:endParaRPr lang="en-US" dirty="0"/>
          </a:p>
          <a:p>
            <a:pPr marL="305435" indent="-305435"/>
            <a:endParaRPr lang="en-US" sz="2800" b="1" dirty="0"/>
          </a:p>
        </p:txBody>
      </p:sp>
      <p:pic>
        <p:nvPicPr>
          <p:cNvPr id="7" name="Picture 6">
            <a:extLst>
              <a:ext uri="{FF2B5EF4-FFF2-40B4-BE49-F238E27FC236}">
                <a16:creationId xmlns:a16="http://schemas.microsoft.com/office/drawing/2014/main" id="{C74E91C1-BBA6-25FE-AFC7-D6BF75FBBD80}"/>
              </a:ext>
            </a:extLst>
          </p:cNvPr>
          <p:cNvPicPr>
            <a:picLocks noChangeAspect="1"/>
          </p:cNvPicPr>
          <p:nvPr/>
        </p:nvPicPr>
        <p:blipFill>
          <a:blip r:embed="rId2"/>
          <a:stretch>
            <a:fillRect/>
          </a:stretch>
        </p:blipFill>
        <p:spPr>
          <a:xfrm>
            <a:off x="6095999" y="1215452"/>
            <a:ext cx="4978402" cy="2363141"/>
          </a:xfrm>
          <a:prstGeom prst="rect">
            <a:avLst/>
          </a:prstGeom>
        </p:spPr>
      </p:pic>
      <p:pic>
        <p:nvPicPr>
          <p:cNvPr id="9" name="Picture 8">
            <a:extLst>
              <a:ext uri="{FF2B5EF4-FFF2-40B4-BE49-F238E27FC236}">
                <a16:creationId xmlns:a16="http://schemas.microsoft.com/office/drawing/2014/main" id="{5EC70A63-110E-7A14-F72F-9A039D719116}"/>
              </a:ext>
            </a:extLst>
          </p:cNvPr>
          <p:cNvPicPr>
            <a:picLocks noChangeAspect="1"/>
          </p:cNvPicPr>
          <p:nvPr/>
        </p:nvPicPr>
        <p:blipFill>
          <a:blip r:embed="rId3"/>
          <a:stretch>
            <a:fillRect/>
          </a:stretch>
        </p:blipFill>
        <p:spPr>
          <a:xfrm>
            <a:off x="951132" y="1232452"/>
            <a:ext cx="4774927" cy="2346141"/>
          </a:xfrm>
          <a:prstGeom prst="rect">
            <a:avLst/>
          </a:prstGeom>
        </p:spPr>
      </p:pic>
      <p:pic>
        <p:nvPicPr>
          <p:cNvPr id="11" name="Picture 10">
            <a:extLst>
              <a:ext uri="{FF2B5EF4-FFF2-40B4-BE49-F238E27FC236}">
                <a16:creationId xmlns:a16="http://schemas.microsoft.com/office/drawing/2014/main" id="{051E9A12-87B6-61D2-BABA-D5D49DAE6138}"/>
              </a:ext>
            </a:extLst>
          </p:cNvPr>
          <p:cNvPicPr>
            <a:picLocks noChangeAspect="1"/>
          </p:cNvPicPr>
          <p:nvPr/>
        </p:nvPicPr>
        <p:blipFill>
          <a:blip r:embed="rId4"/>
          <a:stretch>
            <a:fillRect/>
          </a:stretch>
        </p:blipFill>
        <p:spPr>
          <a:xfrm>
            <a:off x="449944" y="3817258"/>
            <a:ext cx="3643086" cy="2510972"/>
          </a:xfrm>
          <a:prstGeom prst="rect">
            <a:avLst/>
          </a:prstGeom>
        </p:spPr>
      </p:pic>
      <p:pic>
        <p:nvPicPr>
          <p:cNvPr id="13" name="Picture 12">
            <a:extLst>
              <a:ext uri="{FF2B5EF4-FFF2-40B4-BE49-F238E27FC236}">
                <a16:creationId xmlns:a16="http://schemas.microsoft.com/office/drawing/2014/main" id="{45896CD8-F681-E211-2FA8-54E1F3710CF3}"/>
              </a:ext>
            </a:extLst>
          </p:cNvPr>
          <p:cNvPicPr>
            <a:picLocks noChangeAspect="1"/>
          </p:cNvPicPr>
          <p:nvPr/>
        </p:nvPicPr>
        <p:blipFill>
          <a:blip r:embed="rId5"/>
          <a:stretch>
            <a:fillRect/>
          </a:stretch>
        </p:blipFill>
        <p:spPr>
          <a:xfrm>
            <a:off x="7837713" y="3817257"/>
            <a:ext cx="3904340" cy="2510971"/>
          </a:xfrm>
          <a:prstGeom prst="rect">
            <a:avLst/>
          </a:prstGeom>
        </p:spPr>
      </p:pic>
      <p:pic>
        <p:nvPicPr>
          <p:cNvPr id="15" name="Picture 14">
            <a:extLst>
              <a:ext uri="{FF2B5EF4-FFF2-40B4-BE49-F238E27FC236}">
                <a16:creationId xmlns:a16="http://schemas.microsoft.com/office/drawing/2014/main" id="{4C59A18A-0345-98EA-98E4-103873039ACB}"/>
              </a:ext>
            </a:extLst>
          </p:cNvPr>
          <p:cNvPicPr>
            <a:picLocks noChangeAspect="1"/>
          </p:cNvPicPr>
          <p:nvPr/>
        </p:nvPicPr>
        <p:blipFill>
          <a:blip r:embed="rId6"/>
          <a:stretch>
            <a:fillRect/>
          </a:stretch>
        </p:blipFill>
        <p:spPr>
          <a:xfrm>
            <a:off x="4224277" y="3817257"/>
            <a:ext cx="3482190" cy="2510971"/>
          </a:xfrm>
          <a:prstGeom prst="rect">
            <a:avLst/>
          </a:prstGeom>
        </p:spPr>
      </p:pic>
    </p:spTree>
    <p:extLst>
      <p:ext uri="{BB962C8B-B14F-4D97-AF65-F5344CB8AC3E}">
        <p14:creationId xmlns:p14="http://schemas.microsoft.com/office/powerpoint/2010/main" val="424615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a:bodyPr>
          <a:lstStyle/>
          <a:p>
            <a:r>
              <a:rPr lang="en-US" dirty="0"/>
              <a:t>GITHUB AND DEPLOYMNET LINK</a:t>
            </a:r>
          </a:p>
        </p:txBody>
      </p:sp>
      <p:sp>
        <p:nvSpPr>
          <p:cNvPr id="2" name="Content Placeholder 1">
            <a:extLst>
              <a:ext uri="{FF2B5EF4-FFF2-40B4-BE49-F238E27FC236}">
                <a16:creationId xmlns:a16="http://schemas.microsoft.com/office/drawing/2014/main" id="{D3304455-6802-6CA9-8475-2F6DD1B8D409}"/>
              </a:ext>
            </a:extLst>
          </p:cNvPr>
          <p:cNvSpPr>
            <a:spLocks noGrp="1"/>
          </p:cNvSpPr>
          <p:nvPr>
            <p:ph idx="1"/>
          </p:nvPr>
        </p:nvSpPr>
        <p:spPr/>
        <p:txBody>
          <a:bodyPr>
            <a:normAutofit/>
          </a:bodyPr>
          <a:lstStyle/>
          <a:p>
            <a:pPr marL="305435" indent="-305435"/>
            <a:r>
              <a:rPr lang="en-US" sz="2800" b="1" dirty="0"/>
              <a:t>Attach your </a:t>
            </a:r>
            <a:r>
              <a:rPr lang="en-US" sz="2800" b="1" dirty="0" err="1"/>
              <a:t>Github</a:t>
            </a:r>
            <a:r>
              <a:rPr lang="en-US" sz="2800" b="1" dirty="0"/>
              <a:t> Link : </a:t>
            </a:r>
            <a:r>
              <a:rPr lang="en-US" sz="2800" b="1" dirty="0">
                <a:hlinkClick r:id="rId2"/>
              </a:rPr>
              <a:t>https://github.com/Arya068/mybuddy</a:t>
            </a:r>
            <a:endParaRPr lang="en-US" sz="2800" b="1" dirty="0"/>
          </a:p>
          <a:p>
            <a:pPr marL="305435" indent="-305435"/>
            <a:r>
              <a:rPr lang="en-US" sz="2800" b="1" dirty="0">
                <a:ea typeface="+mn-lt"/>
                <a:cs typeface="+mn-lt"/>
              </a:rPr>
              <a:t>Deployment link:  </a:t>
            </a:r>
            <a:r>
              <a:rPr lang="en-US" sz="2400" b="1" dirty="0">
                <a:ea typeface="+mn-lt"/>
                <a:cs typeface="+mn-lt"/>
                <a:hlinkClick r:id="rId3"/>
              </a:rPr>
              <a:t>https://mybuddyai.streamlit.app/#welcome-to-my-buddy</a:t>
            </a:r>
            <a:endParaRPr lang="en-US" sz="2800" b="1" dirty="0">
              <a:ea typeface="+mn-lt"/>
              <a:cs typeface="+mn-lt"/>
            </a:endParaRPr>
          </a:p>
        </p:txBody>
      </p:sp>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E40DB77D-9106-AD05-1664-25E5E9ABD26C}"/>
              </a:ext>
            </a:extLst>
          </p:cNvPr>
          <p:cNvSpPr>
            <a:spLocks noGrp="1"/>
          </p:cNvSpPr>
          <p:nvPr>
            <p:ph idx="1"/>
          </p:nvPr>
        </p:nvSpPr>
        <p:spPr/>
        <p:txBody>
          <a:bodyPr>
            <a:normAutofit/>
          </a:bodyPr>
          <a:lstStyle/>
          <a:p>
            <a:pPr>
              <a:lnSpc>
                <a:spcPct val="150000"/>
              </a:lnSpc>
            </a:pPr>
            <a:r>
              <a:rPr lang="en-US" sz="1800" dirty="0"/>
              <a:t>The development of an </a:t>
            </a:r>
            <a:r>
              <a:rPr lang="en-US" sz="1800" b="1" dirty="0"/>
              <a:t>AI-driven mental health chatbot </a:t>
            </a:r>
            <a:r>
              <a:rPr lang="en-US" sz="1800" dirty="0"/>
              <a:t>offers a promising solution to address the growing mental health challenges faced by students. By integrating sentiment analysis to understand user’s emotions and providing empathetic, motivational responses along with relaxation techniques ,the chatbot fosters a supportive digital environment. This approach bridges the gap between students and mental health support, </a:t>
            </a:r>
            <a:r>
              <a:rPr lang="en-US" sz="1800" b="1" dirty="0"/>
              <a:t>encouraging emotional expression and self-care in a private, accessible, and non-judgmental space</a:t>
            </a:r>
            <a:r>
              <a:rPr lang="en-US" sz="1800" dirty="0"/>
              <a:t>.</a:t>
            </a:r>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8331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10" name="TextBox 9">
            <a:extLst>
              <a:ext uri="{FF2B5EF4-FFF2-40B4-BE49-F238E27FC236}">
                <a16:creationId xmlns:a16="http://schemas.microsoft.com/office/drawing/2014/main" id="{64346F65-F434-1482-4E11-3A1287368D1C}"/>
              </a:ext>
            </a:extLst>
          </p:cNvPr>
          <p:cNvSpPr txBox="1"/>
          <p:nvPr/>
        </p:nvSpPr>
        <p:spPr>
          <a:xfrm>
            <a:off x="535670" y="1374955"/>
            <a:ext cx="11120660" cy="369332"/>
          </a:xfrm>
          <a:prstGeom prst="rect">
            <a:avLst/>
          </a:prstGeom>
          <a:noFill/>
        </p:spPr>
        <p:txBody>
          <a:bodyPr wrap="square" rtlCol="0">
            <a:spAutoFit/>
          </a:bodyPr>
          <a:lstStyle/>
          <a:p>
            <a:r>
              <a:rPr lang="en-US" dirty="0"/>
              <a:t> </a:t>
            </a:r>
            <a:endParaRPr lang="en-IN" dirty="0"/>
          </a:p>
        </p:txBody>
      </p:sp>
      <p:sp>
        <p:nvSpPr>
          <p:cNvPr id="11" name="Rectangle 6">
            <a:extLst>
              <a:ext uri="{FF2B5EF4-FFF2-40B4-BE49-F238E27FC236}">
                <a16:creationId xmlns:a16="http://schemas.microsoft.com/office/drawing/2014/main" id="{C21DC765-5C3B-CE31-5FA0-E1AEF93EED28}"/>
              </a:ext>
            </a:extLst>
          </p:cNvPr>
          <p:cNvSpPr>
            <a:spLocks noChangeArrowheads="1"/>
          </p:cNvSpPr>
          <p:nvPr/>
        </p:nvSpPr>
        <p:spPr bwMode="auto">
          <a:xfrm rot="10800000" flipV="1">
            <a:off x="535668" y="1680539"/>
            <a:ext cx="1102961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en-US" b="1" dirty="0"/>
              <a:t>Add voice support </a:t>
            </a:r>
            <a:r>
              <a:rPr lang="en-US" dirty="0"/>
              <a:t>– enable users to speak and listen to the chatbot through voice interaction, creating A more natural, comforting, and accessible experience.</a:t>
            </a:r>
          </a:p>
          <a:p>
            <a:pPr marL="285750" indent="-285750">
              <a:buFont typeface="Arial" panose="020B0604020202020204" pitchFamily="34" charset="0"/>
              <a:buChar char="•"/>
            </a:pPr>
            <a:r>
              <a:rPr lang="en-US" b="1" dirty="0"/>
              <a:t>Support more languages </a:t>
            </a:r>
            <a:r>
              <a:rPr lang="en-US" dirty="0"/>
              <a:t>– expand the communication to regional languages, ensuring inclusivity and cultural adaptability for diverse users.</a:t>
            </a:r>
          </a:p>
          <a:p>
            <a:pPr marL="285750" indent="-285750">
              <a:buFont typeface="Arial" panose="020B0604020202020204" pitchFamily="34" charset="0"/>
              <a:buChar char="•"/>
            </a:pPr>
            <a:r>
              <a:rPr lang="en-US" b="1" dirty="0"/>
              <a:t>Offline accessibility </a:t>
            </a:r>
            <a:r>
              <a:rPr lang="en-US" dirty="0"/>
              <a:t>– allow users to access basic chatbot features without internet, providing mental health support anytime, anywhere.</a:t>
            </a:r>
          </a:p>
          <a:p>
            <a:pPr marL="285750" indent="-285750" eaLnBrk="0" fontAlgn="base" hangingPunct="0">
              <a:spcBef>
                <a:spcPct val="0"/>
              </a:spcBef>
              <a:spcAft>
                <a:spcPct val="0"/>
              </a:spcAft>
              <a:buFont typeface="Arial" panose="020B0604020202020204" pitchFamily="34" charset="0"/>
              <a:buChar char="•"/>
            </a:pPr>
            <a:r>
              <a:rPr lang="en-US" b="1" dirty="0"/>
              <a:t>Mood and emotion tracking </a:t>
            </a:r>
            <a:r>
              <a:rPr lang="en-US" dirty="0"/>
              <a:t>– implement ai-based sentiment and emotion analysis to monitor users’ emotional patterns and suggest personalized coping strategies.</a:t>
            </a:r>
          </a:p>
          <a:p>
            <a:pPr marL="285750" indent="-285750">
              <a:buFont typeface="Arial" panose="020B0604020202020204" pitchFamily="34" charset="0"/>
              <a:buChar char="•"/>
            </a:pPr>
            <a:r>
              <a:rPr lang="en-US" b="1" dirty="0"/>
              <a:t>Connect to professional help </a:t>
            </a:r>
            <a:r>
              <a:rPr lang="en-US" dirty="0"/>
              <a:t>– integrate an option to connect users with certified counselors or helplines when signs of severe distress are detected.</a:t>
            </a:r>
          </a:p>
          <a:p>
            <a:pPr marL="285750" indent="-285750">
              <a:buFont typeface="Arial" panose="020B0604020202020204" pitchFamily="34" charset="0"/>
              <a:buChar char="•"/>
            </a:pPr>
            <a:r>
              <a:rPr lang="en-US" b="1" dirty="0"/>
              <a:t>Interactive mindfulness activities </a:t>
            </a:r>
            <a:r>
              <a:rPr lang="en-US" dirty="0"/>
              <a:t>– offer guided breathing, journaling, and relaxation exercises that adapt dynamically to the user’s emotional state for improved mental well-being.</a:t>
            </a:r>
          </a:p>
          <a:p>
            <a:pPr marL="285750" indent="-285750" eaLnBrk="0" fontAlgn="base" hangingPunct="0">
              <a:spcBef>
                <a:spcPct val="0"/>
              </a:spcBef>
              <a:spcAft>
                <a:spcPct val="0"/>
              </a:spcAft>
              <a:buFont typeface="Arial" panose="020B0604020202020204" pitchFamily="34" charset="0"/>
              <a:buChar char="•"/>
            </a:pPr>
            <a:endParaRPr lang="en-US" dirty="0"/>
          </a:p>
          <a:p>
            <a:pPr marL="742950" lvl="1" indent="-285750" eaLnBrk="0" fontAlgn="base" hangingPunct="0">
              <a:spcBef>
                <a:spcPct val="0"/>
              </a:spcBef>
              <a:spcAft>
                <a:spcPct val="0"/>
              </a:spcAft>
              <a:buFont typeface="Arial" panose="020B0604020202020204" pitchFamily="34" charset="0"/>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1488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p:txBody>
          <a:bodyPr>
            <a:normAutofit/>
          </a:bodyPr>
          <a:lstStyle/>
          <a:p>
            <a:pPr marL="305435" indent="-305435"/>
            <a:r>
              <a:rPr lang="en-IN" sz="2400" dirty="0" err="1">
                <a:solidFill>
                  <a:srgbClr val="92D050"/>
                </a:solidFill>
                <a:hlinkClick r:id="rId2">
                  <a:extLst>
                    <a:ext uri="{A12FA001-AC4F-418D-AE19-62706E023703}">
                      <ahyp:hlinkClr xmlns:ahyp="http://schemas.microsoft.com/office/drawing/2018/hyperlinkcolor" val="tx"/>
                    </a:ext>
                  </a:extLst>
                </a:hlinkClick>
              </a:rPr>
              <a:t>NanthiniMoha</a:t>
            </a:r>
            <a:r>
              <a:rPr lang="en-IN" sz="2400" dirty="0">
                <a:solidFill>
                  <a:srgbClr val="92D050"/>
                </a:solidFill>
                <a:hlinkClick r:id="rId2">
                  <a:extLst>
                    <a:ext uri="{A12FA001-AC4F-418D-AE19-62706E023703}">
                      <ahyp:hlinkClr xmlns:ahyp="http://schemas.microsoft.com/office/drawing/2018/hyperlinkcolor" val="tx"/>
                    </a:ext>
                  </a:extLst>
                </a:hlinkClick>
              </a:rPr>
              <a:t>/TNSDC-FWD-DIGITAL_PORTFOLIO</a:t>
            </a:r>
            <a:endParaRPr lang="en-IN" sz="2400" dirty="0">
              <a:solidFill>
                <a:srgbClr val="92D050"/>
              </a:solidFill>
            </a:endParaRPr>
          </a:p>
          <a:p>
            <a:pPr marL="305435" indent="-305435"/>
            <a:r>
              <a:rPr lang="en-US" sz="2400" dirty="0">
                <a:hlinkClick r:id="rId3"/>
              </a:rPr>
              <a:t>Get started with Bootstrap · Bootstrap v5.3</a:t>
            </a:r>
            <a:endParaRPr lang="en-US" sz="2400" dirty="0"/>
          </a:p>
          <a:p>
            <a:pPr marL="305435" indent="-305435"/>
            <a:r>
              <a:rPr lang="en-US" sz="2400" dirty="0"/>
              <a:t>Implementation of Interactive Web Applications for Machine Learning and Data Science </a:t>
            </a:r>
            <a:r>
              <a:rPr lang="en-US" sz="2400" dirty="0">
                <a:hlinkClick r:id="rId4"/>
              </a:rPr>
              <a:t>https://docs.streamlit.io/</a:t>
            </a:r>
            <a:endParaRPr lang="en-US" sz="2400" dirty="0"/>
          </a:p>
          <a:p>
            <a:pPr marL="305435" indent="-305435"/>
            <a:r>
              <a:rPr lang="en-IN" sz="2400" dirty="0"/>
              <a:t>Project Link : Mental Health Companion using AI </a:t>
            </a:r>
            <a:r>
              <a:rPr lang="en-IN" sz="2400" dirty="0">
                <a:hlinkClick r:id="rId5"/>
              </a:rPr>
              <a:t>https://mybuddyai.streamlit.app/#welcome-to-my-buddy</a:t>
            </a:r>
            <a:endParaRPr lang="en-IN" sz="2400" dirty="0"/>
          </a:p>
        </p:txBody>
      </p:sp>
    </p:spTree>
    <p:extLst>
      <p:ext uri="{BB962C8B-B14F-4D97-AF65-F5344CB8AC3E}">
        <p14:creationId xmlns:p14="http://schemas.microsoft.com/office/powerpoint/2010/main" val="72895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D289AE2-D2AE-49D1-AFAC-3A79F6794255}">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c0fa2617-96bd-425d-8578-e93563fe37c5"/>
    <ds:schemaRef ds:uri="9162bd5b-4ed9-4da3-b376-05204580ba3f"/>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Future forward</Template>
  <TotalTime>1960</TotalTime>
  <Words>650</Words>
  <Application>Microsoft Office PowerPoint</Application>
  <PresentationFormat>Widescreen</PresentationFormat>
  <Paragraphs>67</Paragraphs>
  <Slides>11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Franklin Gothic Book</vt:lpstr>
      <vt:lpstr>Franklin Gothic Demi</vt:lpstr>
      <vt:lpstr>Wingdings 2</vt:lpstr>
      <vt:lpstr>DividendVTI</vt:lpstr>
      <vt:lpstr>Mental health companion </vt:lpstr>
      <vt:lpstr>OUTLINE</vt:lpstr>
      <vt:lpstr>Problem Statement</vt:lpstr>
      <vt:lpstr>System  Approach</vt:lpstr>
      <vt:lpstr>Algorithm &amp; Deployment</vt:lpstr>
      <vt:lpstr>Result</vt:lpstr>
      <vt:lpstr>GITHUB AND DEPLOYMNET LINK</vt:lpstr>
      <vt:lpstr>Conclusion</vt:lpstr>
      <vt:lpstr>PowerPoint Presentation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Arya Shukla</cp:lastModifiedBy>
  <cp:revision>59</cp:revision>
  <dcterms:created xsi:type="dcterms:W3CDTF">2021-05-26T16:50:10Z</dcterms:created>
  <dcterms:modified xsi:type="dcterms:W3CDTF">2025-10-13T10:58:05Z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